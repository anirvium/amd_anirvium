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73b1fc30564112" /><Relationship Type="http://schemas.openxmlformats.org/officeDocument/2006/relationships/extended-properties" Target="/docProps/app.xml" Id="Rb6cb7e772f2d4297" /><Relationship Type="http://schemas.openxmlformats.org/officeDocument/2006/relationships/officeDocument" Target="/ppt/presentation.xml" Id="R3a743ec9f5444c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7e87cd5dc04cf9"/>
  </p:sldMasterIdLst>
  <p:notesMasterIdLst>
    <p:notesMasterId xmlns:r="http://schemas.openxmlformats.org/officeDocument/2006/relationships" r:id="Ra942a8f68baf4012"/>
  </p:notesMasterIdLst>
  <p:sldIdLst>
    <p:sldId xmlns:r="http://schemas.openxmlformats.org/officeDocument/2006/relationships" id="256" r:id="R2e2fb8a95f744cda"/>
    <p:sldId xmlns:r="http://schemas.openxmlformats.org/officeDocument/2006/relationships" id="257" r:id="R586c611262004b16"/>
    <p:sldId xmlns:r="http://schemas.openxmlformats.org/officeDocument/2006/relationships" id="258" r:id="R59f71cf464164503"/>
    <p:sldId xmlns:r="http://schemas.openxmlformats.org/officeDocument/2006/relationships" id="259" r:id="R1ca5bcef71df4768"/>
    <p:sldId xmlns:r="http://schemas.openxmlformats.org/officeDocument/2006/relationships" id="260" r:id="R90335d866f4d4953"/>
    <p:sldId xmlns:r="http://schemas.openxmlformats.org/officeDocument/2006/relationships" id="261" r:id="Re1e4e2c46e364a79"/>
    <p:sldId xmlns:r="http://schemas.openxmlformats.org/officeDocument/2006/relationships" id="262" r:id="R85ee5640dc834241"/>
    <p:sldId xmlns:r="http://schemas.openxmlformats.org/officeDocument/2006/relationships" id="263" r:id="R04d2bb08264d4a28"/>
    <p:sldId xmlns:r="http://schemas.openxmlformats.org/officeDocument/2006/relationships" id="264" r:id="Rc52f8179d3834b95"/>
    <p:sldId xmlns:r="http://schemas.openxmlformats.org/officeDocument/2006/relationships" id="265" r:id="R686d93403ac74f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1c80a20425457e" /><Relationship Type="http://schemas.openxmlformats.org/officeDocument/2006/relationships/slideMaster" Target="/ppt/slideMasters/slideMaster1.xml" Id="R3e7e87cd5dc04cf9" /><Relationship Type="http://schemas.openxmlformats.org/officeDocument/2006/relationships/notesMaster" Target="/ppt/notesMasters/notesMaster1.xml" Id="Ra942a8f68baf4012" /><Relationship Type="http://schemas.openxmlformats.org/officeDocument/2006/relationships/presProps" Target="/ppt/presProps.xml" Id="R25a0ce8823634c1d" /><Relationship Type="http://schemas.openxmlformats.org/officeDocument/2006/relationships/tableStyles" Target="/ppt/tableStyles.xml" Id="R9140efbfb88a4341" /><Relationship Type="http://schemas.openxmlformats.org/officeDocument/2006/relationships/slide" Target="/ppt/slides/slide1.xml" Id="R2e2fb8a95f744cda" /><Relationship Type="http://schemas.openxmlformats.org/officeDocument/2006/relationships/slide" Target="/ppt/slides/slide2.xml" Id="R586c611262004b16" /><Relationship Type="http://schemas.openxmlformats.org/officeDocument/2006/relationships/slide" Target="/ppt/slides/slide3.xml" Id="R59f71cf464164503" /><Relationship Type="http://schemas.openxmlformats.org/officeDocument/2006/relationships/slide" Target="/ppt/slides/slide4.xml" Id="R1ca5bcef71df4768" /><Relationship Type="http://schemas.openxmlformats.org/officeDocument/2006/relationships/slide" Target="/ppt/slides/slide5.xml" Id="R90335d866f4d4953" /><Relationship Type="http://schemas.openxmlformats.org/officeDocument/2006/relationships/slide" Target="/ppt/slides/slide6.xml" Id="Re1e4e2c46e364a79" /><Relationship Type="http://schemas.openxmlformats.org/officeDocument/2006/relationships/slide" Target="/ppt/slides/slide7.xml" Id="R85ee5640dc834241" /><Relationship Type="http://schemas.openxmlformats.org/officeDocument/2006/relationships/slide" Target="/ppt/slides/slide8.xml" Id="R04d2bb08264d4a28" /><Relationship Type="http://schemas.openxmlformats.org/officeDocument/2006/relationships/slide" Target="/ppt/slides/slide9.xml" Id="Rc52f8179d3834b95" /><Relationship Type="http://schemas.openxmlformats.org/officeDocument/2006/relationships/slide" Target="/ppt/slides/slide10.xml" Id="R686d93403ac74f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9d6094883b4f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d1a62d58fd4fe7" /><Relationship Type="http://schemas.openxmlformats.org/officeDocument/2006/relationships/notesMaster" Target="/ppt/notesMasters/notesMaster1.xml" Id="R5e304c76e6794d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41d42ee80d4b6c" /><Relationship Type="http://schemas.openxmlformats.org/officeDocument/2006/relationships/notesMaster" Target="/ppt/notesMasters/notesMaster1.xml" Id="R770fb2bd1f2b4a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4bded5da1b41cc" /><Relationship Type="http://schemas.openxmlformats.org/officeDocument/2006/relationships/notesMaster" Target="/ppt/notesMasters/notesMaster1.xml" Id="R004c5822d71a4b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ef42ef80cb43a2" /><Relationship Type="http://schemas.openxmlformats.org/officeDocument/2006/relationships/notesMaster" Target="/ppt/notesMasters/notesMaster1.xml" Id="Rc20d0c4dc05749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81c417ac8b4b89" /><Relationship Type="http://schemas.openxmlformats.org/officeDocument/2006/relationships/notesMaster" Target="/ppt/notesMasters/notesMaster1.xml" Id="Rc44ec928e46748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17d7a461b142ef" /><Relationship Type="http://schemas.openxmlformats.org/officeDocument/2006/relationships/notesMaster" Target="/ppt/notesMasters/notesMaster1.xml" Id="Rd0be3b6e3d6547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5a121350224092" /><Relationship Type="http://schemas.openxmlformats.org/officeDocument/2006/relationships/notesMaster" Target="/ppt/notesMasters/notesMaster1.xml" Id="R9c489a3407f444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e046ef460f443a" /><Relationship Type="http://schemas.openxmlformats.org/officeDocument/2006/relationships/notesMaster" Target="/ppt/notesMasters/notesMaster1.xml" Id="Ra462d0eaa0204f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14fe6d162a4d7a" /><Relationship Type="http://schemas.openxmlformats.org/officeDocument/2006/relationships/notesMaster" Target="/ppt/notesMasters/notesMaster1.xml" Id="R5c647fbb465142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69ba46489d4c1e" /><Relationship Type="http://schemas.openxmlformats.org/officeDocument/2006/relationships/notesMaster" Target="/ppt/notesMasters/notesMaster1.xml" Id="R39875a0d4b7048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64fff18634d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39ddc2b4294ebe" /><Relationship Type="http://schemas.openxmlformats.org/officeDocument/2006/relationships/slideLayout" Target="/ppt/slideLayouts/slideLayout1.xml" Id="R90047677d49541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47677d49541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4bca5d0684f0d" /><Relationship Type="http://schemas.openxmlformats.org/officeDocument/2006/relationships/image" Target="/ppt/media/image.png" Id="Rd228bf2f8fcf4d8d" /><Relationship Type="http://schemas.openxmlformats.org/officeDocument/2006/relationships/notesSlide" Target="/ppt/notesSlides/notesSlide1.xml" Id="R067eea4b2e0944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8edf6f63b4a7e" /><Relationship Type="http://schemas.openxmlformats.org/officeDocument/2006/relationships/notesSlide" Target="/ppt/notesSlides/notesSlide2.xml" Id="Re76e9df11b8948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90eab93df4c13" /><Relationship Type="http://schemas.openxmlformats.org/officeDocument/2006/relationships/notesSlide" Target="/ppt/notesSlides/notesSlide3.xml" Id="R6e7f373f479641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23148354b484e" /><Relationship Type="http://schemas.openxmlformats.org/officeDocument/2006/relationships/image" Target="/ppt/media/image2.png" Id="Rb7e925a8334d4146" /><Relationship Type="http://schemas.openxmlformats.org/officeDocument/2006/relationships/notesSlide" Target="/ppt/notesSlides/notesSlide4.xml" Id="R556d0a527ac741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97fec35564245" /><Relationship Type="http://schemas.openxmlformats.org/officeDocument/2006/relationships/image" Target="/ppt/media/image3.png" Id="R3dc80ebfa4134534" /><Relationship Type="http://schemas.openxmlformats.org/officeDocument/2006/relationships/notesSlide" Target="/ppt/notesSlides/notesSlide5.xml" Id="Rb8df6a0a2ad843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14ffe17cd432d" /><Relationship Type="http://schemas.openxmlformats.org/officeDocument/2006/relationships/notesSlide" Target="/ppt/notesSlides/notesSlide6.xml" Id="R3c6dab6d1f4443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12b7ebc2b468e" /><Relationship Type="http://schemas.openxmlformats.org/officeDocument/2006/relationships/notesSlide" Target="/ppt/notesSlides/notesSlide7.xml" Id="R0e5ed2324e934a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37733be4c4476" /><Relationship Type="http://schemas.openxmlformats.org/officeDocument/2006/relationships/notesSlide" Target="/ppt/notesSlides/notesSlide8.xml" Id="R232a4740fedc47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8caf1add44645" /><Relationship Type="http://schemas.openxmlformats.org/officeDocument/2006/relationships/notesSlide" Target="/ppt/notesSlides/notesSlide9.xml" Id="R4c6ac954757342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9beed766041cc" /><Relationship Type="http://schemas.openxmlformats.org/officeDocument/2006/relationships/notesSlide" Target="/ppt/notesSlides/notesSlide10.xml" Id="R34d4c543363e4a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8bf2f8fcf4d8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B3ACD-99C8-475C-9758-747A2435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3"/>
          </a:solidFill>
          <a:ln xmlns:a="http://schemas.openxmlformats.org/drawingml/2006/main" w="0">
            <a:solidFill>
              <a:srgbClr val="0B0D1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73191-6FD6-4688-B162-1F2727A5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E6D1"/>
                </a:solidFill>
              </a:defRPr>
            </a:pPr>
            <a:r>
              <a:rPr sz="1050" b="1">
                <a:solidFill>
                  <a:srgbClr val="72E6D1"/>
                </a:solidFill>
              </a:rPr>
              <a:t>AMD DEVELOPER HACKATHON ACT II · TRACK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12ADC-557C-446F-83D9-5814FAD5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0F1F5"/>
                </a:solidFill>
              </a:defRPr>
            </a:pPr>
            <a:r>
              <a:rPr sz="4350" b="1">
                <a:solidFill>
                  <a:srgbClr val="F0F1F5"/>
                </a:solidFill>
              </a:rPr>
              <a:t>Anirvium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4A1CF-AFD6-4CB9-8DB0-5B38E1AD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857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1F5"/>
                </a:solidFill>
              </a:defRPr>
            </a:pPr>
            <a:r>
              <a:rPr sz="3450" b="1">
                <a:solidFill>
                  <a:srgbClr val="F0F1F5"/>
                </a:solidFill>
              </a:rPr>
              <a:t>The control plane</a:t>
            </a:r>
          </a:p>
          <a:p xmlns:a="http://schemas.openxmlformats.org/drawingml/2006/main">
            <a:pPr algn="l">
              <a:defRPr sz="3450" b="1">
                <a:solidFill>
                  <a:srgbClr val="F0F1F5"/>
                </a:solidFill>
              </a:defRPr>
            </a:pPr>
            <a:r>
              <a:rPr sz="3450" b="1">
                <a:solidFill>
                  <a:srgbClr val="F0F1F5"/>
                </a:solidFill>
              </a:rPr>
              <a:t>for AI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E493D-A71A-493D-8B25-FFFD2CAE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BCC8"/>
                </a:solidFill>
              </a:defRPr>
            </a:pPr>
            <a:r>
              <a:rPr sz="1725" b="0">
                <a:solidFill>
                  <a:srgbClr val="B8BCC8"/>
                </a:solidFill>
              </a:rPr>
              <a:t>Sarvagun governed execution ×</a:t>
            </a:r>
          </a:p>
          <a:p xmlns:a="http://schemas.openxmlformats.org/drawingml/2006/main">
            <a:pPr algn="l">
              <a:defRPr sz="1725" b="0">
                <a:solidFill>
                  <a:srgbClr val="B8BCC8"/>
                </a:solidFill>
              </a:defRPr>
            </a:pPr>
            <a:r>
              <a:rPr sz="1725" b="0">
                <a:solidFill>
                  <a:srgbClr val="B8BCC8"/>
                </a:solidFill>
              </a:rPr>
              <a:t>SuperTuriya trajectory 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94128-44B2-47A3-8675-D54DD864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428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F4C7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C76B"/>
                </a:solidFill>
              </a:defRPr>
            </a:pPr>
            <a:r>
              <a:rPr sz="900" b="1">
                <a:solidFill>
                  <a:srgbClr val="F4C76B"/>
                </a:solidFill>
              </a:rPr>
              <a:t>POWERED BY AMD ROCm + vLLM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62768-7CAF-4DBB-A5FA-617E7DA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798A"/>
                </a:solidFill>
              </a:defRPr>
            </a:pPr>
            <a:r>
              <a:rPr sz="975" b="0">
                <a:solidFill>
                  <a:srgbClr val="74798A"/>
                </a:solidFill>
              </a:rPr>
              <a:t>github.com/Anirvium/AMD_Anirvium</a:t>
            </a:r>
          </a:p>
        </p:txBody>
      </p:sp>
    </p:spTree>
    <p:extLst>
      <p:ext uri="{BB962C8B-B14F-4D97-AF65-F5344CB8AC3E}">
        <p14:creationId xmlns:p14="http://schemas.microsoft.com/office/powerpoint/2010/main" val="790913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EB1E99-76BA-4447-A365-2A97AA41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9AFF"/>
                </a:solidFill>
              </a:defRPr>
            </a:pPr>
            <a:r>
              <a:rPr sz="900" b="1">
                <a:solidFill>
                  <a:srgbClr val="A69AFF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9A4FD-D92A-463E-AEF2-C326DE7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F1F5"/>
                </a:solidFill>
              </a:defRPr>
            </a:pPr>
            <a:r>
              <a:rPr sz="3150" b="1">
                <a:solidFill>
                  <a:srgbClr val="F0F1F5"/>
                </a:solidFill>
              </a:rPr>
              <a:t>A final answer cannot prove an agent acted safely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0A4DD-71FE-4094-AA93-01ADECC3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798A"/>
                </a:solidFill>
              </a:defRPr>
            </a:pPr>
            <a:r>
              <a:rPr sz="900" b="1">
                <a:solidFill>
                  <a:srgbClr val="74798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0268A-E17D-45CB-8317-1E8DD99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BCC8"/>
                </a:solidFill>
              </a:defRPr>
            </a:pPr>
            <a:r>
              <a:rPr sz="1800" b="0">
                <a:solidFill>
                  <a:srgbClr val="B8BCC8"/>
                </a:solidFill>
              </a:rPr>
              <a:t>Enterprise agents now touch payments, identity, refunds, security, and SLA commitments.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2A8A3-DC4A-43BA-A870-48C55086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F1F5"/>
                </a:solidFill>
              </a:defRPr>
            </a:pPr>
            <a:r>
              <a:rPr sz="2550" b="1">
                <a:solidFill>
                  <a:srgbClr val="F0F1F5"/>
                </a:solidFill>
              </a:rPr>
              <a:t>Most teams still review only a transcript.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78804-649B-4E08-BB09-6F72DC34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9AFF"/>
                </a:solidFill>
              </a:defRPr>
            </a:pPr>
            <a:r>
              <a:rPr sz="1275" b="1">
                <a:solidFill>
                  <a:srgbClr val="A69A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A4511-D471-4FE0-97C0-35BB9E87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D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5939C-C43F-436B-A697-98A7E423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0F1F5"/>
                </a:solidFill>
              </a:defRPr>
            </a:pPr>
            <a:r>
              <a:rPr sz="1800" b="0">
                <a:solidFill>
                  <a:srgbClr val="F0F1F5"/>
                </a:solidFill>
              </a:rPr>
              <a:t>Which evidence drove the decision?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E21C7-F174-476F-B4D9-DC0391B4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9AFF"/>
                </a:solidFill>
              </a:defRPr>
            </a:pPr>
            <a:r>
              <a:rPr sz="1275" b="1">
                <a:solidFill>
                  <a:srgbClr val="A69A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616C9-81D9-4B22-B069-2A44CAE2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957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D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719B1-B766-4A50-BA6A-9CCF14BD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147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0F1F5"/>
                </a:solidFill>
              </a:defRPr>
            </a:pPr>
            <a:r>
              <a:rPr sz="1800" b="0">
                <a:solidFill>
                  <a:srgbClr val="F0F1F5"/>
                </a:solidFill>
              </a:rPr>
              <a:t>Which tool acted and what changed?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328F2-CBBC-4561-A4FE-AB79CE87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9AFF"/>
                </a:solidFill>
              </a:defRPr>
            </a:pPr>
            <a:r>
              <a:rPr sz="1275" b="1">
                <a:solidFill>
                  <a:srgbClr val="A69A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EBA16-AA0B-4244-8F76-C1851A93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D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A6FA6-AC51-46C5-BC32-F23F6272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196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0F1F5"/>
                </a:solidFill>
              </a:defRPr>
            </a:pPr>
            <a:r>
              <a:rPr sz="1800" b="0">
                <a:solidFill>
                  <a:srgbClr val="F0F1F5"/>
                </a:solidFill>
              </a:rPr>
              <a:t>Where did policy or approval intervene?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892C7-1E79-487B-9CBA-CDBD7AA1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C87"/>
                </a:solidFill>
              </a:defRPr>
            </a:pPr>
            <a:r>
              <a:rPr sz="1275" b="1">
                <a:solidFill>
                  <a:srgbClr val="FF7C87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44AEE-93E7-4907-B275-63444BDA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054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D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3104E-5407-4BC7-AEFC-487E7CF0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244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F1F5"/>
                </a:solidFill>
              </a:defRPr>
            </a:pPr>
            <a:r>
              <a:rPr sz="1800" b="1">
                <a:solidFill>
                  <a:srgbClr val="F0F1F5"/>
                </a:solidFill>
              </a:rPr>
              <a:t>Why did the same failure return?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4CF05-1AF1-41E9-9ABC-A1927D78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769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2E6D1"/>
                </a:solidFill>
              </a:defRPr>
            </a:pPr>
            <a:r>
              <a:rPr sz="1650" b="1">
                <a:solidFill>
                  <a:srgbClr val="72E6D1"/>
                </a:solidFill>
              </a:rPr>
              <a:t>Anirvium turns the hidden path into operational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535C4-31EF-4065-956F-DD1F0744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798A"/>
                </a:solidFill>
              </a:defRPr>
            </a:pPr>
            <a:r>
              <a:rPr sz="675" b="0">
                <a:solidFill>
                  <a:srgbClr val="74798A"/>
                </a:solidFill>
              </a:rPr>
              <a:t>ANIRVIUM AI · AMD DEVELOPER HACKATHON ACT II · TRACK 3</a:t>
            </a:r>
          </a:p>
        </p:txBody>
      </p:sp>
    </p:spTree>
    <p:extLst>
      <p:ext uri="{BB962C8B-B14F-4D97-AF65-F5344CB8AC3E}">
        <p14:creationId xmlns:p14="http://schemas.microsoft.com/office/powerpoint/2010/main" val="766866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798709-BC29-40E1-8B1B-C07BA312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9AFF"/>
                </a:solidFill>
              </a:defRPr>
            </a:pPr>
            <a:r>
              <a:rPr sz="900" b="1">
                <a:solidFill>
                  <a:srgbClr val="A69AFF"/>
                </a:solidFill>
              </a:rPr>
              <a:t>THE PRODUCT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CA6DF-C78C-40F9-A270-4F58E2D0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F1F5"/>
                </a:solidFill>
              </a:defRPr>
            </a:pPr>
            <a:r>
              <a:rPr sz="3150" b="1">
                <a:solidFill>
                  <a:srgbClr val="F0F1F5"/>
                </a:solidFill>
              </a:rPr>
              <a:t>Execution and intelligence must be designed as one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0778-B5AC-49CA-94D4-BCA4358A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798A"/>
                </a:solidFill>
              </a:defRPr>
            </a:pPr>
            <a:r>
              <a:rPr sz="900" b="1">
                <a:solidFill>
                  <a:srgbClr val="74798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1D43E-DB6A-460B-8607-056DBAF5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97205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72E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9B789-E743-4B31-AD15-2D12ECE6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57350"/>
            <a:ext cx="497205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A69A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A34D7-B7A9-4BF9-9E80-B52B7A30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2E6D1"/>
                </a:solidFill>
              </a:defRPr>
            </a:pPr>
            <a:r>
              <a:rPr sz="1200" b="1">
                <a:solidFill>
                  <a:srgbClr val="72E6D1"/>
                </a:solidFill>
              </a:rPr>
              <a:t>SARVAGUN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800EA-EA99-4B91-B008-86C4448D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F1F5"/>
                </a:solidFill>
              </a:defRPr>
            </a:pPr>
            <a:r>
              <a:rPr sz="2550" b="1">
                <a:solidFill>
                  <a:srgbClr val="F0F1F5"/>
                </a:solidFill>
              </a:rPr>
              <a:t>Governed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B4FA3-095E-49DC-8524-323EE346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79D83-BF66-40F1-A056-5CB4A2C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Routes to the least-complex correct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D134A-1E4A-4B31-9F2D-78FFEBF1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4AFAB-FDF7-4425-A59B-8322BF12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Reads exact operational 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FF3CB-0719-4E39-AD17-BED56D93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1E7A2-3CA6-4FCE-A6EE-5DB71B0A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Retrieves governed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03A4A-4886-43FA-8C7D-B35ED604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E9AAC-97F0-40E9-8C62-B1BCA7D4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Audits tools and holds sensitive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1553E-D29C-4814-8D73-8F6992FF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43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9AFF"/>
                </a:solidFill>
              </a:defRPr>
            </a:pPr>
            <a:r>
              <a:rPr sz="1200" b="1">
                <a:solidFill>
                  <a:srgbClr val="A69AFF"/>
                </a:solidFill>
              </a:rPr>
              <a:t>SUPERTURIYA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4CCEC-15E4-406A-BB67-B4AC63AE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622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F1F5"/>
                </a:solidFill>
              </a:defRPr>
            </a:pPr>
            <a:r>
              <a:rPr sz="2550" b="1">
                <a:solidFill>
                  <a:srgbClr val="F0F1F5"/>
                </a:solidFill>
              </a:rPr>
              <a:t>Trajectory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BFCCE-9445-40C4-BD4B-34A6CCFC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260FA-8E7D-4DAE-86BE-478986F9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861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Observes agents, tools, evidence, and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92EE9-6133-40E1-84A0-A0EEDA1B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32F13-706F-461A-AC10-5CDDF0B2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385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Scores and diagnoses every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B8EFD-A4E8-4CEE-AE37-A766E072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19FFD-28A8-4B43-AA01-F2A8DF69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91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Compares execution paths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845FAD-B01D-473F-AEF7-76ECF788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29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C6192-5CB5-4CBA-AB00-ED9F1909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434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Stores evaluated advisory 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A41A6-A436-4AB4-9A15-82D5B6B9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924550"/>
            <a:ext cx="2800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F4C7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C76B"/>
                </a:solidFill>
              </a:defRPr>
            </a:pPr>
            <a:r>
              <a:rPr sz="900" b="1">
                <a:solidFill>
                  <a:srgbClr val="F4C76B"/>
                </a:solidFill>
              </a:rPr>
              <a:t>CURRENT POLICY ALWAYS WINS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C4435-0174-4386-812E-7402F851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2865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4798A"/>
                </a:solidFill>
              </a:defRPr>
            </a:pPr>
            <a:r>
              <a:rPr sz="1050" b="0">
                <a:solidFill>
                  <a:srgbClr val="74798A"/>
                </a:solidFill>
              </a:rPr>
              <a:t>No automatic prompt, policy, or code deployment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23314-C988-4F23-B93D-80DDFF47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798A"/>
                </a:solidFill>
              </a:defRPr>
            </a:pPr>
            <a:r>
              <a:rPr sz="675" b="0">
                <a:solidFill>
                  <a:srgbClr val="74798A"/>
                </a:solidFill>
              </a:rPr>
              <a:t>ANIRVIUM AI · AMD DEVELOPER HACKATHON ACT II · TRACK 3</a:t>
            </a:r>
          </a:p>
        </p:txBody>
      </p:sp>
    </p:spTree>
    <p:extLst>
      <p:ext uri="{BB962C8B-B14F-4D97-AF65-F5344CB8AC3E}">
        <p14:creationId xmlns:p14="http://schemas.microsoft.com/office/powerpoint/2010/main" val="2089696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E762A-7971-4290-816B-DE0CA39B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9AFF"/>
                </a:solidFill>
              </a:defRPr>
            </a:pPr>
            <a:r>
              <a:rPr sz="900" b="1">
                <a:solidFill>
                  <a:srgbClr val="A69AFF"/>
                </a:solidFill>
              </a:rPr>
              <a:t>SARVAGUN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AE5F8-B9A0-4CAE-83B4-F608AB74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F1F5"/>
                </a:solidFill>
              </a:defRPr>
            </a:pPr>
            <a:r>
              <a:rPr sz="3150" b="1">
                <a:solidFill>
                  <a:srgbClr val="F0F1F5"/>
                </a:solidFill>
              </a:rPr>
              <a:t>The operator sees the case, safe draft, and full execution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5A667-9B73-4A65-8B98-A45EC43A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798A"/>
                </a:solidFill>
              </a:defRPr>
            </a:pPr>
            <a:r>
              <a:rPr sz="900" b="1">
                <a:solidFill>
                  <a:srgbClr val="74798A"/>
                </a:solidFill>
              </a:rPr>
              <a:t>04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925a8334d4146"/>
          <a:stretch xmlns:a="http://schemas.openxmlformats.org/drawingml/2006/main"/>
        </p:blipFill>
        <p:spPr>
          <a:xfrm xmlns:a="http://schemas.openxmlformats.org/drawingml/2006/main">
            <a:off x="1710267" y="1466850"/>
            <a:ext cx="8771467" cy="4933950"/>
          </a:xfrm>
          <a:prstGeom xmlns:a="http://schemas.openxmlformats.org/drawingml/2006/main" prst="roundRect">
            <a:avLst>
              <a:gd name="adj" fmla="val 308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B4605-36E3-4A41-BFAA-0315E4BD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798A"/>
                </a:solidFill>
              </a:defRPr>
            </a:pPr>
            <a:r>
              <a:rPr sz="675" b="0">
                <a:solidFill>
                  <a:srgbClr val="74798A"/>
                </a:solidFill>
              </a:rPr>
              <a:t>PRESENTATION RENDER · STATIC SYNTHETIC DEMO · LIVE AMD EVIDENCE IS SEPARATE</a:t>
            </a:r>
          </a:p>
        </p:txBody>
      </p:sp>
    </p:spTree>
    <p:extLst>
      <p:ext uri="{BB962C8B-B14F-4D97-AF65-F5344CB8AC3E}">
        <p14:creationId xmlns:p14="http://schemas.microsoft.com/office/powerpoint/2010/main" val="9015643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7CD2AD-A21E-4D94-AE06-D57C448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9AFF"/>
                </a:solidFill>
              </a:defRPr>
            </a:pPr>
            <a:r>
              <a:rPr sz="900" b="1">
                <a:solidFill>
                  <a:srgbClr val="A69AFF"/>
                </a:solidFill>
              </a:rPr>
              <a:t>SUPERTURIYA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5A21E-6226-4326-8489-C2AD0842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F1F5"/>
                </a:solidFill>
              </a:defRPr>
            </a:pPr>
            <a:r>
              <a:rPr sz="3150" b="1">
                <a:solidFill>
                  <a:srgbClr val="F0F1F5"/>
                </a:solidFill>
              </a:rPr>
              <a:t>Traces become evaluated intelligence, not another log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56B4B-5305-499C-AFE3-1737A73F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798A"/>
                </a:solidFill>
              </a:defRPr>
            </a:pPr>
            <a:r>
              <a:rPr sz="900" b="1">
                <a:solidFill>
                  <a:srgbClr val="74798A"/>
                </a:solidFill>
              </a:rPr>
              <a:t>05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80ebfa4134534"/>
          <a:stretch xmlns:a="http://schemas.openxmlformats.org/drawingml/2006/main"/>
        </p:blipFill>
        <p:spPr>
          <a:xfrm xmlns:a="http://schemas.openxmlformats.org/drawingml/2006/main">
            <a:off x="1710267" y="1466850"/>
            <a:ext cx="8771467" cy="4933950"/>
          </a:xfrm>
          <a:prstGeom xmlns:a="http://schemas.openxmlformats.org/drawingml/2006/main" prst="roundRect">
            <a:avLst>
              <a:gd name="adj" fmla="val 308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F4C1D-A3E9-4941-B106-CB3D4A48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798A"/>
                </a:solidFill>
              </a:defRPr>
            </a:pPr>
            <a:r>
              <a:rPr sz="675" b="0">
                <a:solidFill>
                  <a:srgbClr val="74798A"/>
                </a:solidFill>
              </a:rPr>
              <a:t>PRESENTATION RENDER · STATIC SYNTHETIC DEMO · AUTOMATIC POLICY MUTATION DISABLED</a:t>
            </a:r>
          </a:p>
        </p:txBody>
      </p:sp>
    </p:spTree>
    <p:extLst>
      <p:ext uri="{BB962C8B-B14F-4D97-AF65-F5344CB8AC3E}">
        <p14:creationId xmlns:p14="http://schemas.microsoft.com/office/powerpoint/2010/main" val="356810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9F108-E965-407A-86B5-7AE4798B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9AFF"/>
                </a:solidFill>
              </a:defRPr>
            </a:pPr>
            <a:r>
              <a:rPr sz="900" b="1">
                <a:solidFill>
                  <a:srgbClr val="A69AFF"/>
                </a:solidFill>
              </a:rPr>
              <a:t>CANONICAL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6510E-BA63-4EC2-AB02-5B46ED5D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F1F5"/>
                </a:solidFill>
              </a:defRPr>
            </a:pPr>
            <a:r>
              <a:rPr sz="3150" b="1">
                <a:solidFill>
                  <a:srgbClr val="F0F1F5"/>
                </a:solidFill>
              </a:rPr>
              <a:t>A third unresolved withdrawal contact exposes the entire 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CB043-BAB1-4666-9453-156DA48E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798A"/>
                </a:solidFill>
              </a:defRPr>
            </a:pPr>
            <a:r>
              <a:rPr sz="900" b="1">
                <a:solidFill>
                  <a:srgbClr val="74798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1BCCC-FCBA-4FFB-943B-78B7AD42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095750" cy="4248150"/>
          </a:xfrm>
          <a:prstGeom xmlns:a="http://schemas.openxmlformats.org/drawingml/2006/main" prst="roundRect">
            <a:avLst>
              <a:gd name="adj" fmla="val 5116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FF7C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FC1C0-14D0-47A1-AC67-1A2EC0F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C87"/>
                </a:solidFill>
              </a:defRPr>
            </a:pPr>
            <a:r>
              <a:rPr sz="1200" b="1">
                <a:solidFill>
                  <a:srgbClr val="FF7C87"/>
                </a:solidFill>
              </a:rPr>
              <a:t>CS-002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5CD39-5D39-4693-9323-17ED871D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F1F5"/>
                </a:solidFill>
              </a:defRPr>
            </a:pPr>
            <a:r>
              <a:rPr sz="2325" b="1">
                <a:solidFill>
                  <a:srgbClr val="F0F1F5"/>
                </a:solidFill>
              </a:rPr>
              <a:t>Priya Shah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2BE15-3716-4C96-8291-279EB077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333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BCC8"/>
                </a:solidFill>
              </a:defRPr>
            </a:pPr>
            <a:r>
              <a:rPr sz="1650" b="0">
                <a:solidFill>
                  <a:srgbClr val="B8BCC8"/>
                </a:solidFill>
              </a:rPr>
              <a:t>“My withdrawal says processed, but the bank has not received it. Nobody replied to the promised update.”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D871E-09D7-4F9C-97E1-DAD52AC1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F4C7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C76B"/>
                </a:solidFill>
              </a:defRPr>
            </a:pPr>
            <a:r>
              <a:rPr sz="900" b="1">
                <a:solidFill>
                  <a:srgbClr val="F4C76B"/>
                </a:solidFill>
              </a:rPr>
              <a:t>THIRD 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AFC74-D48B-47E0-8303-E8F95313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767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FF7C8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7C87"/>
                </a:solidFill>
              </a:defRPr>
            </a:pPr>
            <a:r>
              <a:rPr sz="900" b="1">
                <a:solidFill>
                  <a:srgbClr val="FF7C87"/>
                </a:solidFill>
              </a:rPr>
              <a:t>APPROVAL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20970-1C18-4D5B-AAD8-093A4B23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798A"/>
                </a:solidFill>
              </a:defRPr>
            </a:pPr>
            <a:r>
              <a:rPr sz="1050" b="0">
                <a:solidFill>
                  <a:srgbClr val="74798A"/>
                </a:solidFill>
              </a:rPr>
              <a:t>Synthetic data · simulated enterprise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206CE-B48A-40AD-AF64-70272CD7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72E6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2E6D1"/>
                </a:solidFill>
              </a:defRPr>
            </a:pPr>
            <a:r>
              <a:rPr sz="1125" b="1">
                <a:solidFill>
                  <a:srgbClr val="72E6D1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7322B-D238-40D9-82D7-27C4A85E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F1F5"/>
                </a:solidFill>
              </a:defRPr>
            </a:pPr>
            <a:r>
              <a:rPr sz="1500" b="0">
                <a:solidFill>
                  <a:srgbClr val="F0F1F5"/>
                </a:solidFill>
              </a:rPr>
              <a:t>Preserve identity and linked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0F274-FC8C-42CF-A03D-2DF0156F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F4C7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C76B"/>
                </a:solidFill>
              </a:defRPr>
            </a:pPr>
            <a:r>
              <a:rPr sz="1125" b="1">
                <a:solidFill>
                  <a:srgbClr val="F4C76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B1404-51D9-4DC6-95B3-49A4273C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5267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F1F5"/>
                </a:solidFill>
              </a:defRPr>
            </a:pPr>
            <a:r>
              <a:rPr sz="1500" b="0">
                <a:solidFill>
                  <a:srgbClr val="F0F1F5"/>
                </a:solidFill>
              </a:rPr>
              <a:t>Detect recontact, frustration, and missed commitment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815EB-C3B5-4305-A208-5968DB55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72E6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2E6D1"/>
                </a:solidFill>
              </a:defRPr>
            </a:pPr>
            <a:r>
              <a:rPr sz="1125" b="1">
                <a:solidFill>
                  <a:srgbClr val="72E6D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93D60-7379-4B38-B167-F7DBD64B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3847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F1F5"/>
                </a:solidFill>
              </a:defRPr>
            </a:pPr>
            <a:r>
              <a:rPr sz="1500" b="0">
                <a:solidFill>
                  <a:srgbClr val="F0F1F5"/>
                </a:solidFill>
              </a:rPr>
              <a:t>Retrieve governed policy and procedure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C9C9F-F977-49A6-BA87-5B24D70F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72E6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2E6D1"/>
                </a:solidFill>
              </a:defRPr>
            </a:pPr>
            <a:r>
              <a:rPr sz="1125" b="1">
                <a:solidFill>
                  <a:srgbClr val="72E6D1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968DF-9AA1-45AD-AC88-F49FAF76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2427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F1F5"/>
                </a:solidFill>
              </a:defRPr>
            </a:pPr>
            <a:r>
              <a:rPr sz="1500" b="0">
                <a:solidFill>
                  <a:srgbClr val="F0F1F5"/>
                </a:solidFill>
              </a:rPr>
              <a:t>Execute audited case and payment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AF747-AE28-43E6-BF2F-6D3B616E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19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FF7C8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C87"/>
                </a:solidFill>
              </a:defRPr>
            </a:pPr>
            <a:r>
              <a:rPr sz="1125" b="1">
                <a:solidFill>
                  <a:srgbClr val="FF7C87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C8E1C-26CD-47B5-A59A-564597EF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007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F1F5"/>
                </a:solidFill>
              </a:defRPr>
            </a:pPr>
            <a:r>
              <a:rPr sz="1500" b="0">
                <a:solidFill>
                  <a:srgbClr val="F0F1F5"/>
                </a:solidFill>
              </a:rPr>
              <a:t>Hold the sensitive commitment for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B6A6B-8C24-45AB-A724-B0DEF6E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A69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9AFF"/>
                </a:solidFill>
              </a:defRPr>
            </a:pPr>
            <a:r>
              <a:rPr sz="1125" b="1">
                <a:solidFill>
                  <a:srgbClr val="A69A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ED09DD-2E90-47AD-8FDB-B804F981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F1F5"/>
                </a:solidFill>
              </a:defRPr>
            </a:pPr>
            <a:r>
              <a:rPr sz="1500" b="1">
                <a:solidFill>
                  <a:srgbClr val="F0F1F5"/>
                </a:solidFill>
              </a:rPr>
              <a:t>Evaluate, diagnose, recommend, and remember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35CDF-0C34-46B3-9EB9-5DC59577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798A"/>
                </a:solidFill>
              </a:defRPr>
            </a:pPr>
            <a:r>
              <a:rPr sz="675" b="0">
                <a:solidFill>
                  <a:srgbClr val="74798A"/>
                </a:solidFill>
              </a:rPr>
              <a:t>ANIRVIUM AI · AMD DEVELOPER HACKATHON ACT II · TRACK 3</a:t>
            </a:r>
          </a:p>
        </p:txBody>
      </p:sp>
    </p:spTree>
    <p:extLst>
      <p:ext uri="{BB962C8B-B14F-4D97-AF65-F5344CB8AC3E}">
        <p14:creationId xmlns:p14="http://schemas.microsoft.com/office/powerpoint/2010/main" val="1229568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92DB66-5A2F-4E42-8E4E-D837F501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9AFF"/>
                </a:solidFill>
              </a:defRPr>
            </a:pPr>
            <a:r>
              <a:rPr sz="900" b="1">
                <a:solidFill>
                  <a:srgbClr val="A69AFF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7306E-8A1C-4FC7-8684-FDBD7A5B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F1F5"/>
                </a:solidFill>
              </a:defRPr>
            </a:pPr>
            <a:r>
              <a:rPr sz="3150" b="1">
                <a:solidFill>
                  <a:srgbClr val="F0F1F5"/>
                </a:solidFill>
              </a:rPr>
              <a:t>Every request follows a typed path and every governed run becomes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A25FE-4AA1-4702-A19D-9265FA3C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798A"/>
                </a:solidFill>
              </a:defRPr>
            </a:pPr>
            <a:r>
              <a:rPr sz="900" b="1">
                <a:solidFill>
                  <a:srgbClr val="74798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2166C-7CD3-42AA-8849-B3476DD8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2D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677DD-A4E8-45F7-9446-178A22D4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2D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AE53F-FEDA-4B54-B36F-1CB4E652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7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D80B0-DC38-4046-804C-471623C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146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9A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191F5-8869-44EB-8594-50D94609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146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E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445A6-4A16-47AE-AB43-FED1B4D4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0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479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D2E9B-2B5A-4BDA-A9BD-20DF152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958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69A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F96E3-3178-4FE2-A8F0-53F69BB1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524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B8BC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BCC8"/>
                </a:solidFill>
              </a:defRPr>
            </a:pPr>
            <a:r>
              <a:rPr sz="1350" b="1">
                <a:solidFill>
                  <a:srgbClr val="B8BCC8"/>
                </a:solidFill>
              </a:rPr>
              <a:t>USER +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DEE0D-370C-4879-AE14-67E02CB7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95500"/>
            <a:ext cx="16764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72E6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2E6D1"/>
                </a:solidFill>
              </a:defRPr>
            </a:pPr>
            <a:r>
              <a:rPr sz="1350" b="1">
                <a:solidFill>
                  <a:srgbClr val="72E6D1"/>
                </a:solidFill>
              </a:rPr>
              <a:t>TYPED 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9690E-D274-4955-B6B9-C06F57C1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907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72E6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2E6D1"/>
                </a:solidFill>
              </a:defRPr>
            </a:pPr>
            <a:r>
              <a:rPr sz="1350" b="1">
                <a:solidFill>
                  <a:srgbClr val="72E6D1"/>
                </a:solidFill>
              </a:rPr>
              <a:t>SARVAGUN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78B1D-F337-4E9C-A8AE-D7C3A711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1809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F4C7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C76B"/>
                </a:solidFill>
              </a:defRPr>
            </a:pPr>
            <a:r>
              <a:rPr sz="1350" b="1">
                <a:solidFill>
                  <a:srgbClr val="F4C76B"/>
                </a:solidFill>
              </a:rPr>
              <a:t>AMD QWEN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0E3D1-E516-4627-A45C-4E10BC0F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76650"/>
            <a:ext cx="2857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A69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9AFF"/>
                </a:solidFill>
              </a:defRPr>
            </a:pPr>
            <a:r>
              <a:rPr sz="1200" b="1">
                <a:solidFill>
                  <a:srgbClr val="A69AFF"/>
                </a:solidFill>
              </a:rPr>
              <a:t>SUPERTURIYA · TRAJECTORY INTELLIGENCE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A42EF-36FC-4031-BC86-147DC993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66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2E6D1"/>
                </a:solidFill>
              </a:defRPr>
            </a:pPr>
            <a:r>
              <a:rPr sz="1800" b="1">
                <a:solidFill>
                  <a:srgbClr val="72E6D1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0FE13-1650-434E-BD11-5978B23F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2E6D1"/>
                </a:solidFill>
              </a:defRPr>
            </a:pPr>
            <a:r>
              <a:rPr sz="1800" b="1">
                <a:solidFill>
                  <a:srgbClr val="72E6D1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9FB50-A3B1-420E-8EEB-FD639A2C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C76B"/>
                </a:solidFill>
              </a:defRPr>
            </a:pPr>
            <a:r>
              <a:rPr sz="1125" b="1">
                <a:solidFill>
                  <a:srgbClr val="F4C76B"/>
                </a:solidFill>
              </a:rPr>
              <a:t>Qwen drafts responses 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C1B05-12AA-4767-A31D-4838BAFE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9AFF"/>
                </a:solidFill>
              </a:defRPr>
            </a:pPr>
            <a:r>
              <a:rPr sz="1050" b="1">
                <a:solidFill>
                  <a:srgbClr val="A69AFF"/>
                </a:solidFill>
              </a:rPr>
              <a:t>observes 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8A87E-2C52-49AD-B277-606333FB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051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2E6D1"/>
                </a:solidFill>
              </a:defRPr>
            </a:pPr>
            <a:r>
              <a:rPr sz="1050" b="1">
                <a:solidFill>
                  <a:srgbClr val="72E6D1"/>
                </a:solidFill>
              </a:rPr>
              <a:t>↑ guides future plans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F1C51-9C9B-433D-8C0F-2A6EA079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4798A"/>
                </a:solidFill>
              </a:defRPr>
            </a:pPr>
            <a:r>
              <a:rPr sz="1050" b="1">
                <a:solidFill>
                  <a:srgbClr val="74798A"/>
                </a:solidFill>
              </a:rPr>
              <a:t>exact reads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770FA-48E9-4105-8E74-5C3945AD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95800"/>
            <a:ext cx="21336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292D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BCC8"/>
                </a:solidFill>
              </a:defRPr>
            </a:pPr>
            <a:r>
              <a:rPr sz="1200" b="1">
                <a:solidFill>
                  <a:srgbClr val="B8BCC8"/>
                </a:solidFill>
              </a:rPr>
              <a:t>SQLITE</a:t>
            </a:r>
          </a:p>
          <a:p xmlns:a="http://schemas.openxmlformats.org/drawingml/2006/main">
            <a:pPr algn="ctr">
              <a:defRPr sz="1200" b="1">
                <a:solidFill>
                  <a:srgbClr val="B8BCC8"/>
                </a:solidFill>
              </a:defRPr>
            </a:pPr>
            <a:r>
              <a:rPr sz="1200" b="1">
                <a:solidFill>
                  <a:srgbClr val="B8BCC8"/>
                </a:solidFill>
              </a:rPr>
              <a:t>exact operational truth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05930-5211-4983-9D5B-B0F6A972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76800"/>
            <a:ext cx="24003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292D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BCC8"/>
                </a:solidFill>
              </a:defRPr>
            </a:pPr>
            <a:r>
              <a:rPr sz="1200" b="1">
                <a:solidFill>
                  <a:srgbClr val="B8BCC8"/>
                </a:solidFill>
              </a:rPr>
              <a:t>REDIS + QDRANT</a:t>
            </a:r>
          </a:p>
          <a:p xmlns:a="http://schemas.openxmlformats.org/drawingml/2006/main">
            <a:pPr algn="ctr">
              <a:defRPr sz="1200" b="1">
                <a:solidFill>
                  <a:srgbClr val="B8BCC8"/>
                </a:solidFill>
              </a:defRPr>
            </a:pPr>
            <a:r>
              <a:rPr sz="1200" b="1">
                <a:solidFill>
                  <a:srgbClr val="B8BCC8"/>
                </a:solidFill>
              </a:rPr>
              <a:t>operational + semantic 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58495-9B35-4F4E-AD58-B101CF39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57850"/>
            <a:ext cx="541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72E6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2E6D1"/>
                </a:solidFill>
              </a:defRPr>
            </a:pPr>
            <a:r>
              <a:rPr sz="900" b="1">
                <a:solidFill>
                  <a:srgbClr val="72E6D1"/>
                </a:solidFill>
              </a:rPr>
              <a:t>DOCKER COMPOSE · FASTAPI · REACT · 95 BACKEND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A859DD-BAB0-4FC6-9975-F0DBCE23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798A"/>
                </a:solidFill>
              </a:defRPr>
            </a:pPr>
            <a:r>
              <a:rPr sz="675" b="0">
                <a:solidFill>
                  <a:srgbClr val="74798A"/>
                </a:solidFill>
              </a:rPr>
              <a:t>ANIRVIUM AI · AMD DEVELOPER HACKATHON ACT II · TRACK 3</a:t>
            </a:r>
          </a:p>
        </p:txBody>
      </p:sp>
    </p:spTree>
    <p:extLst>
      <p:ext uri="{BB962C8B-B14F-4D97-AF65-F5344CB8AC3E}">
        <p14:creationId xmlns:p14="http://schemas.microsoft.com/office/powerpoint/2010/main" val="1164299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75A67-503C-4C48-B0C9-CAE38FFB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9AFF"/>
                </a:solidFill>
              </a:defRPr>
            </a:pPr>
            <a:r>
              <a:rPr sz="900" b="1">
                <a:solidFill>
                  <a:srgbClr val="A69AFF"/>
                </a:solidFill>
              </a:rPr>
              <a:t>MEANINGFUL AMD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A3498-EF11-4C23-8693-581E940D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F1F5"/>
                </a:solidFill>
              </a:defRPr>
            </a:pPr>
            <a:r>
              <a:rPr sz="3150" b="1">
                <a:solidFill>
                  <a:srgbClr val="F0F1F5"/>
                </a:solidFill>
              </a:rPr>
              <a:t>Open AMD infrastructure powers the model where generation adds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2F497-33BE-46BF-A5DE-A1B401AB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798A"/>
                </a:solidFill>
              </a:defRPr>
            </a:pPr>
            <a:r>
              <a:rPr sz="900" b="1">
                <a:solidFill>
                  <a:srgbClr val="74798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1F1AC-A918-494E-9C61-E66CF2E7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4003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292D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6875C-5A8A-4910-B545-AC8F4290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C76B"/>
                </a:solidFill>
              </a:defRPr>
            </a:pPr>
            <a:r>
              <a:rPr sz="2850" b="1">
                <a:solidFill>
                  <a:srgbClr val="F4C76B"/>
                </a:solidFill>
              </a:rPr>
              <a:t>47.98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1FECE-6229-448B-BA8B-28C80DDA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CC8"/>
                </a:solidFill>
              </a:defRPr>
            </a:pPr>
            <a:r>
              <a:rPr sz="1275" b="0">
                <a:solidFill>
                  <a:srgbClr val="B8BCC8"/>
                </a:solidFill>
              </a:rPr>
              <a:t>GiB visible VRAM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A5E96-97E9-4282-A92A-E3C0D062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4003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292D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5FF3F-DB2D-4A6E-9FBB-C7FB2ACF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526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2E6D1"/>
                </a:solidFill>
              </a:defRPr>
            </a:pPr>
            <a:r>
              <a:rPr sz="2850" b="1">
                <a:solidFill>
                  <a:srgbClr val="72E6D1"/>
                </a:solidFill>
              </a:rPr>
              <a:t>Qwen3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639C0-6C26-4C00-BF5B-48F90A4A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CC8"/>
                </a:solidFill>
              </a:defRPr>
            </a:pPr>
            <a:r>
              <a:rPr sz="1275" b="0">
                <a:solidFill>
                  <a:srgbClr val="B8BCC8"/>
                </a:solidFill>
              </a:rPr>
              <a:t>8B served by vLLM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7463B-9289-46C8-85D3-D738BBA6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24003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292D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3646D-F6AD-4416-9B96-C87A845B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69AFF"/>
                </a:solidFill>
              </a:defRPr>
            </a:pPr>
            <a:r>
              <a:rPr sz="2850" b="1">
                <a:solidFill>
                  <a:srgbClr val="A69AFF"/>
                </a:solidFill>
              </a:rPr>
              <a:t>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5E41F-B40B-4DDF-9545-611CDBE8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CC8"/>
                </a:solidFill>
              </a:defRPr>
            </a:pPr>
            <a:r>
              <a:rPr sz="1275" b="0">
                <a:solidFill>
                  <a:srgbClr val="B8BCC8"/>
                </a:solidFill>
              </a:rPr>
              <a:t>trajectory spans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CEE3C-3AAE-4D8F-B096-24B2F376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24003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292D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96BE7-E41B-4A5C-BFC7-22CA14B5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8BCC8"/>
                </a:solidFill>
              </a:defRPr>
            </a:pPr>
            <a:r>
              <a:rPr sz="2850" b="1">
                <a:solidFill>
                  <a:srgbClr val="B8BCC8"/>
                </a:solidFill>
              </a:rPr>
              <a:t>72.53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5288D-35CF-442C-AAE9-29ED7BB5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CC8"/>
                </a:solidFill>
              </a:defRPr>
            </a:pPr>
            <a:r>
              <a:rPr sz="1275" b="0">
                <a:solidFill>
                  <a:srgbClr val="B8BCC8"/>
                </a:solidFill>
              </a:rPr>
              <a:t>average tokens/s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20AAC-EF20-479A-A858-43E8537D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9AFF"/>
                </a:solidFill>
              </a:defRPr>
            </a:pPr>
            <a:r>
              <a:rPr sz="1200" b="1">
                <a:solidFill>
                  <a:srgbClr val="A69AFF"/>
                </a:solidFill>
              </a:rPr>
              <a:t>Verified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9C4DD-CA56-4243-A714-DC35B4CF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84E4D-397C-42D7-A09F-744357F8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AMD Developer Cloud → ROCm → vLLM OpenAI-compatible endpoint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94F13-3E40-4BCD-97DE-252B8EA7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4C4AC-793C-4C82-91DE-42A6790C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Qwen drafts customer responses and routed public-knowledge answers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88EE9-7DFE-4A20-8CCB-03ADAB31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25D73-9368-4655-AF77-E95D7F58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Deterministic policy, compliance, approvals, and safe fallback surround the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19B88-C0ED-4E27-9F0F-D3BF9E0F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4781550" cy="1828800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F4C7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911EC-C241-4912-8D31-AD68173C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05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C76B"/>
                </a:solidFill>
              </a:defRPr>
            </a:pPr>
            <a:r>
              <a:rPr sz="1350" b="1">
                <a:solidFill>
                  <a:srgbClr val="F4C76B"/>
                </a:solidFill>
              </a:rPr>
              <a:t>Claim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5D0D31-F2B3-4A4E-899D-10C4F3D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43400"/>
            <a:ext cx="404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BCC8"/>
                </a:solidFill>
              </a:defRPr>
            </a:pPr>
            <a:r>
              <a:rPr sz="1350" b="0">
                <a:solidFill>
                  <a:srgbClr val="B8BCC8"/>
                </a:solidFill>
              </a:rPr>
              <a:t>Observed runtime: 47.98 GiB, gfx1100.</a:t>
            </a:r>
          </a:p>
          <a:p xmlns:a="http://schemas.openxmlformats.org/drawingml/2006/main">
            <a:pPr algn="l">
              <a:defRPr sz="1350" b="0">
                <a:solidFill>
                  <a:srgbClr val="B8BCC8"/>
                </a:solidFill>
              </a:defRPr>
            </a:pPr>
            <a:r>
              <a:rPr sz="1350" b="0">
                <a:solidFill>
                  <a:srgbClr val="B8BCC8"/>
                </a:solidFill>
              </a:rPr>
              <a:t>The 192GB MI300X profile is a target, not a measured result.</a:t>
            </a:r>
          </a:p>
          <a:p xmlns:a="http://schemas.openxmlformats.org/drawingml/2006/main">
            <a:pPr algn="l">
              <a:defRPr sz="1350" b="0">
                <a:solidFill>
                  <a:srgbClr val="B8BCC8"/>
                </a:solidFill>
              </a:defRPr>
            </a:pPr>
            <a:r>
              <a:rPr sz="1350" b="0">
                <a:solidFill>
                  <a:srgbClr val="B8BCC8"/>
                </a:solidFill>
              </a:rPr>
              <a:t>Internal metrics are product diagnostics, not a Track 3 score.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D1B44-308C-4401-9883-22FF5806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57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798A"/>
                </a:solidFill>
              </a:defRPr>
            </a:pPr>
            <a:r>
              <a:rPr sz="1050" b="0">
                <a:solidFill>
                  <a:srgbClr val="74798A"/>
                </a:solidFill>
              </a:rPr>
              <a:t>Evidence: amd/benchmark_results_real.md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769D7-4A96-4CEE-A7F1-4B8182FC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798A"/>
                </a:solidFill>
              </a:defRPr>
            </a:pPr>
            <a:r>
              <a:rPr sz="675" b="0">
                <a:solidFill>
                  <a:srgbClr val="74798A"/>
                </a:solidFill>
              </a:rPr>
              <a:t>ANIRVIUM AI · AMD DEVELOPER HACKATHON ACT II · TRACK 3</a:t>
            </a:r>
          </a:p>
        </p:txBody>
      </p:sp>
    </p:spTree>
    <p:extLst>
      <p:ext uri="{BB962C8B-B14F-4D97-AF65-F5344CB8AC3E}">
        <p14:creationId xmlns:p14="http://schemas.microsoft.com/office/powerpoint/2010/main" val="219915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C8EEDB-01E4-4F9B-8740-7EE66FCC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9AFF"/>
                </a:solidFill>
              </a:defRPr>
            </a:pPr>
            <a:r>
              <a:rPr sz="900" b="1">
                <a:solidFill>
                  <a:srgbClr val="A69AFF"/>
                </a:solidFill>
              </a:rPr>
              <a:t>PRODUCT AND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A6632-0503-4F98-9C95-B3FB1D64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F1F5"/>
                </a:solidFill>
              </a:defRPr>
            </a:pPr>
            <a:r>
              <a:rPr sz="3150" b="1">
                <a:solidFill>
                  <a:srgbClr val="F0F1F5"/>
                </a:solidFill>
              </a:rPr>
              <a:t>Start where opaque agent decisions create real operating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08083-4048-4EB6-AE31-6813B05C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798A"/>
                </a:solidFill>
              </a:defRPr>
            </a:pPr>
            <a:r>
              <a:rPr sz="900" b="1">
                <a:solidFill>
                  <a:srgbClr val="74798A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3DDB8-A684-48FA-B599-2C67CD81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9AFF"/>
                </a:solidFill>
              </a:defRPr>
            </a:pPr>
            <a:r>
              <a:rPr sz="975" b="1">
                <a:solidFill>
                  <a:srgbClr val="A69AFF"/>
                </a:solidFill>
              </a:rPr>
              <a:t>BEACHHEAD BUYER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5B969-F940-4F5C-A975-F7B94A3D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1F5"/>
                </a:solidFill>
              </a:defRPr>
            </a:pPr>
            <a:r>
              <a:rPr sz="2250" b="1">
                <a:solidFill>
                  <a:srgbClr val="F0F1F5"/>
                </a:solidFill>
              </a:rPr>
              <a:t>Support &amp; AI-operations leaders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BD4F9-C154-4970-B6BA-D055D91E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BCC8"/>
                </a:solidFill>
              </a:defRPr>
            </a:pPr>
            <a:r>
              <a:rPr sz="1575" b="0">
                <a:solidFill>
                  <a:srgbClr val="B8BCC8"/>
                </a:solidFill>
              </a:rPr>
              <a:t>Deploying agents in payment, identity, security, refund, or SLA-sensitive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05F94-8E60-44C5-9726-364B3E08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95450"/>
            <a:ext cx="0" cy="386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D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62CCD-14F8-4004-A4D9-9538208F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E6D1"/>
                </a:solidFill>
              </a:defRPr>
            </a:pPr>
            <a:r>
              <a:rPr sz="975" b="1">
                <a:solidFill>
                  <a:srgbClr val="72E6D1"/>
                </a:solidFill>
              </a:rPr>
              <a:t>INITIAL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C1CE5-58FD-458C-A842-BA61E25B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81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F097B-AD8E-4D02-9A12-C23154DB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Catch unsafe commitments before delivery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8A4C3-7B06-46BD-972E-5B1A787C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14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D30D5-C762-4B4B-84C2-0B3EAD76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Reduce manual trajectory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1B787-0BF6-4261-AF78-A4A9FD84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980FE-0058-4183-B8A2-8667662B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Shorten root-cause diagnosis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2AB0A-8CF2-41B8-B8A9-7976692D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E6D1"/>
          </a:solidFill>
          <a:ln xmlns:a="http://schemas.openxmlformats.org/drawingml/2006/main" w="0">
            <a:solidFill>
              <a:srgbClr val="72E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8A2A1-D0B0-404D-9F10-5B3E1DBE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BCC8"/>
                </a:solidFill>
              </a:defRPr>
            </a:pPr>
            <a:r>
              <a:rPr sz="1425" b="0">
                <a:solidFill>
                  <a:srgbClr val="B8BCC8"/>
                </a:solidFill>
              </a:rPr>
              <a:t>Turn failures into reusable regression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61047-2C45-4E1E-952B-3A9FD2DA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9530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2151E"/>
          </a:solidFill>
          <a:ln xmlns:a="http://schemas.openxmlformats.org/drawingml/2006/main" w="9525">
            <a:solidFill>
              <a:srgbClr val="A69A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00B0E-F18F-4918-8AEB-5FB29BF4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9AFF"/>
                </a:solidFill>
              </a:defRPr>
            </a:pPr>
            <a:r>
              <a:rPr sz="1350" b="1">
                <a:solidFill>
                  <a:srgbClr val="A69AFF"/>
                </a:solidFill>
              </a:rPr>
              <a:t>Business model hypothesis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6A0CC-E90D-448F-BB7E-35CFA02E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F1F5"/>
                </a:solidFill>
              </a:defRPr>
            </a:pPr>
            <a:r>
              <a:rPr sz="1500" b="0">
                <a:solidFill>
                  <a:srgbClr val="F0F1F5"/>
                </a:solidFill>
              </a:rPr>
              <a:t>Platform fee + evaluated-trajectory usage, with private-cloud and compliance tiers.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73135-BC92-489C-927D-7E3EA37D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33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76B"/>
                </a:solidFill>
              </a:defRPr>
            </a:pPr>
            <a:r>
              <a:rPr sz="975" b="1">
                <a:solidFill>
                  <a:srgbClr val="F4C76B"/>
                </a:solidFill>
              </a:rPr>
              <a:t>EXPANSION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98735-4DA6-4E7E-B560-497A4358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F1F5"/>
                </a:solidFill>
              </a:defRPr>
            </a:pPr>
            <a:r>
              <a:rPr sz="1800" b="1">
                <a:solidFill>
                  <a:srgbClr val="F0F1F5"/>
                </a:solidFill>
              </a:rPr>
              <a:t>Support → claims → lending ops → ITSM → 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EC374-0CFF-4B76-91D8-D38A946E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798A"/>
                </a:solidFill>
              </a:defRPr>
            </a:pPr>
            <a:r>
              <a:rPr sz="675" b="0">
                <a:solidFill>
                  <a:srgbClr val="74798A"/>
                </a:solidFill>
              </a:rPr>
              <a:t>ANIRVIUM AI · AMD DEVELOPER HACKATHON ACT II · TRACK 3</a:t>
            </a:r>
          </a:p>
        </p:txBody>
      </p:sp>
    </p:spTree>
    <p:extLst>
      <p:ext uri="{BB962C8B-B14F-4D97-AF65-F5344CB8AC3E}">
        <p14:creationId xmlns:p14="http://schemas.microsoft.com/office/powerpoint/2010/main" val="1363424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7BB76-80AF-422A-84BA-EED593A0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9AFF"/>
                </a:solidFill>
              </a:defRPr>
            </a:pPr>
            <a:r>
              <a:rPr sz="1050" b="1">
                <a:solidFill>
                  <a:srgbClr val="A69AFF"/>
                </a:solidFill>
              </a:rPr>
              <a:t>ANIRVIUM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2C6D5-B96F-45F4-9995-268873F8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1F5"/>
                </a:solidFill>
              </a:defRPr>
            </a:pPr>
            <a:r>
              <a:rPr sz="3450" b="1">
                <a:solidFill>
                  <a:srgbClr val="F0F1F5"/>
                </a:solidFill>
              </a:rPr>
              <a:t>Sarvagun executes.</a:t>
            </a:r>
          </a:p>
          <a:p xmlns:a="http://schemas.openxmlformats.org/drawingml/2006/main">
            <a:pPr algn="l">
              <a:defRPr sz="3450" b="1">
                <a:solidFill>
                  <a:srgbClr val="F0F1F5"/>
                </a:solidFill>
              </a:defRPr>
            </a:pPr>
            <a:r>
              <a:rPr sz="3450" b="1">
                <a:solidFill>
                  <a:srgbClr val="F0F1F5"/>
                </a:solidFill>
              </a:rPr>
              <a:t>SuperTuriya understands the execution.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A9082-E19B-4EF7-AA35-B6338A5B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BCC8"/>
                </a:solidFill>
              </a:defRPr>
            </a:pPr>
            <a:r>
              <a:rPr sz="1875" b="0">
                <a:solidFill>
                  <a:srgbClr val="B8BCC8"/>
                </a:solidFill>
              </a:rPr>
              <a:t>That understanding becomes safer future work—without allowing memory to bypass policy.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465A4-C6B2-4DA7-9DCB-66937687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D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2BCA1-0F10-416A-8692-B991BF49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2E6D1"/>
                </a:solidFill>
              </a:defRPr>
            </a:pPr>
            <a:r>
              <a:rPr sz="1275" b="1">
                <a:solidFill>
                  <a:srgbClr val="72E6D1"/>
                </a:solidFill>
              </a:rPr>
              <a:t>What exists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CAFBD-090E-4D4A-A6B4-58BA190E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0F1F5"/>
                </a:solidFill>
              </a:defRPr>
            </a:pPr>
            <a:r>
              <a:rPr sz="1575" b="0">
                <a:solidFill>
                  <a:srgbClr val="F0F1F5"/>
                </a:solidFill>
              </a:rPr>
              <a:t>A complete synthetic-data prototype, a reproducible container path, and a verified AMD/Qwen text-generation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EBFF5-48D6-4411-B9B2-21610C78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76B"/>
                </a:solidFill>
              </a:defRPr>
            </a:pPr>
            <a:r>
              <a:rPr sz="1275" b="1">
                <a:solidFill>
                  <a:srgbClr val="F4C76B"/>
                </a:solidFill>
              </a:rPr>
              <a:t>The 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CF2FD-E0F4-4EDB-8550-609E6B4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863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F1F5"/>
                </a:solidFill>
              </a:defRPr>
            </a:pPr>
            <a:r>
              <a:rPr sz="1875" b="1">
                <a:solidFill>
                  <a:srgbClr val="F0F1F5"/>
                </a:solidFill>
              </a:rPr>
              <a:t>Design partners operating high-volume, high-risk enterprise agents.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2428A-C20B-4B48-9C2D-52138030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A24"/>
          </a:solidFill>
          <a:ln xmlns:a="http://schemas.openxmlformats.org/drawingml/2006/main" w="9525">
            <a:solidFill>
              <a:srgbClr val="A69A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69AFF"/>
                </a:solidFill>
              </a:defRPr>
            </a:pPr>
            <a:r>
              <a:rPr sz="900" b="1">
                <a:solidFill>
                  <a:srgbClr val="A69AFF"/>
                </a:solidFill>
              </a:rPr>
              <a:t>PUBLIC 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895E7-1570-46B4-BB37-AE58E874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769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BCC8"/>
                </a:solidFill>
              </a:defRPr>
            </a:pPr>
            <a:r>
              <a:rPr sz="1350" b="0">
                <a:solidFill>
                  <a:srgbClr val="B8BCC8"/>
                </a:solidFill>
              </a:rPr>
              <a:t>github.com/Anirvium/AMD_Anirvium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21719-4F2E-41FF-B3E1-E2BA1BA5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4798A"/>
                </a:solidFill>
              </a:defRPr>
            </a:pPr>
            <a:r>
              <a:rPr sz="825" b="1">
                <a:solidFill>
                  <a:srgbClr val="74798A"/>
                </a:solidFill>
              </a:rPr>
              <a:t>MIT · SYNTHETIC DATA · SIMULATED CONNECTORS · HONEST PROTOTYPE BOUNDARY</a:t>
            </a:r>
          </a:p>
        </p:txBody>
      </p:sp>
    </p:spTree>
    <p:extLst>
      <p:ext uri="{BB962C8B-B14F-4D97-AF65-F5344CB8AC3E}">
        <p14:creationId xmlns:p14="http://schemas.microsoft.com/office/powerpoint/2010/main" val="353572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2026-07-12T21:18:54.3350000Z</dcterms:created>
  <dcterms:modified xsi:type="dcterms:W3CDTF">2026-07-12T21:18:54.3350000Z</dcterms:modified>
</coreProperties>
</file>